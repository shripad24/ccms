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4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4" d="100"/>
          <a:sy n="104" d="100"/>
        </p:scale>
        <p:origin x="79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A48442-9B58-413A-B904-1C41455DBC19}" type="datetimeFigureOut">
              <a:rPr lang="en-IN" smtClean="0"/>
              <a:t>19-03-2025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EBC1DF-9E2F-4E9C-B965-1A632D4C3F69}" type="slidenum">
              <a:rPr lang="en-IN" smtClean="0"/>
              <a:t>‹#›</a:t>
            </a:fld>
            <a:endParaRPr lang="en-IN"/>
          </a:p>
        </p:txBody>
      </p:sp>
    </p:spTree>
    <p:extLst>
      <p:ext uri="{BB962C8B-B14F-4D97-AF65-F5344CB8AC3E}">
        <p14:creationId xmlns:p14="http://schemas.microsoft.com/office/powerpoint/2010/main" val="1582260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72EDDA0-7DA0-4E06-B012-0EDA605D326A}"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1073782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2EDDA0-7DA0-4E06-B012-0EDA605D326A}"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1896287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72EDDA0-7DA0-4E06-B012-0EDA605D326A}"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768902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72EDDA0-7DA0-4E06-B012-0EDA605D326A}" type="datetimeFigureOut">
              <a:rPr lang="en-IN" smtClean="0"/>
              <a:t>19-03-2025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3879711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72EDDA0-7DA0-4E06-B012-0EDA605D326A}" type="datetimeFigureOut">
              <a:rPr lang="en-IN" smtClean="0"/>
              <a:t>19-03-2025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36674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72EDDA0-7DA0-4E06-B012-0EDA605D326A}" type="datetimeFigureOut">
              <a:rPr lang="en-IN" smtClean="0"/>
              <a:t>19-03-2025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3979329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2EDDA0-7DA0-4E06-B012-0EDA605D326A}" type="datetimeFigureOut">
              <a:rPr lang="en-IN" smtClean="0"/>
              <a:t>19-03-2025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2762372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2EDDA0-7DA0-4E06-B012-0EDA605D326A}" type="datetimeFigureOut">
              <a:rPr lang="en-IN" smtClean="0"/>
              <a:t>19-03-2025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1063887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72EDDA0-7DA0-4E06-B012-0EDA605D326A}" type="datetimeFigureOut">
              <a:rPr lang="en-IN" smtClean="0"/>
              <a:t>19-03-2025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3840165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2EDDA0-7DA0-4E06-B012-0EDA605D326A}"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1755181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2EDDA0-7DA0-4E06-B012-0EDA605D326A}" type="datetimeFigureOut">
              <a:rPr lang="en-IN" smtClean="0"/>
              <a:t>19-03-2025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42FD5B-96EA-4246-BB28-7C2D0840AF8C}" type="slidenum">
              <a:rPr lang="en-IN" smtClean="0"/>
              <a:t>‹#›</a:t>
            </a:fld>
            <a:endParaRPr lang="en-IN"/>
          </a:p>
        </p:txBody>
      </p:sp>
    </p:spTree>
    <p:extLst>
      <p:ext uri="{BB962C8B-B14F-4D97-AF65-F5344CB8AC3E}">
        <p14:creationId xmlns:p14="http://schemas.microsoft.com/office/powerpoint/2010/main" val="2805838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2EDDA0-7DA0-4E06-B012-0EDA605D326A}" type="datetimeFigureOut">
              <a:rPr lang="en-IN" smtClean="0"/>
              <a:t>19-03-2025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42FD5B-96EA-4246-BB28-7C2D0840AF8C}" type="slidenum">
              <a:rPr lang="en-IN" smtClean="0"/>
              <a:t>‹#›</a:t>
            </a:fld>
            <a:endParaRPr lang="en-IN"/>
          </a:p>
        </p:txBody>
      </p:sp>
    </p:spTree>
    <p:extLst>
      <p:ext uri="{BB962C8B-B14F-4D97-AF65-F5344CB8AC3E}">
        <p14:creationId xmlns:p14="http://schemas.microsoft.com/office/powerpoint/2010/main" val="39120458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16043"/>
            <a:ext cx="12192000" cy="615553"/>
          </a:xfrm>
          <a:prstGeom prst="rect">
            <a:avLst/>
          </a:prstGeom>
          <a:noFill/>
        </p:spPr>
        <p:txBody>
          <a:bodyPr wrap="square" rtlCol="0">
            <a:spAutoFit/>
          </a:bodyPr>
          <a:lstStyle/>
          <a:p>
            <a:r>
              <a:rPr lang="en-IN" b="1" dirty="0" smtClean="0">
                <a:solidFill>
                  <a:srgbClr val="003466"/>
                </a:solidFill>
                <a:latin typeface="Helvetica" panose="020B0604020202020204" pitchFamily="34" charset="0"/>
                <a:cs typeface="Helvetica" panose="020B0604020202020204" pitchFamily="34" charset="0"/>
              </a:rPr>
              <a:t>Your Project Title Goes Here</a:t>
            </a:r>
          </a:p>
          <a:p>
            <a:r>
              <a:rPr lang="en-IN" sz="1600" b="1" dirty="0" smtClean="0">
                <a:latin typeface="Helvetica" panose="020B0604020202020204" pitchFamily="34" charset="0"/>
                <a:cs typeface="Helvetica" panose="020B0604020202020204" pitchFamily="34" charset="0"/>
              </a:rPr>
              <a:t>Your Name (Your Roll)</a:t>
            </a:r>
            <a:endParaRPr lang="en-IN" sz="1600" b="1" dirty="0">
              <a:latin typeface="Helvetica" panose="020B0604020202020204" pitchFamily="34" charset="0"/>
              <a:cs typeface="Helvetica" panose="020B0604020202020204" pitchFamily="34" charset="0"/>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60404" y="0"/>
            <a:ext cx="631596" cy="631596"/>
          </a:xfrm>
          <a:prstGeom prst="rect">
            <a:avLst/>
          </a:prstGeom>
        </p:spPr>
      </p:pic>
      <p:sp>
        <p:nvSpPr>
          <p:cNvPr id="9" name="Footer Placeholder 8"/>
          <p:cNvSpPr>
            <a:spLocks noGrp="1"/>
          </p:cNvSpPr>
          <p:nvPr>
            <p:ph type="ftr" sz="quarter" idx="11"/>
          </p:nvPr>
        </p:nvSpPr>
        <p:spPr>
          <a:xfrm>
            <a:off x="4038600" y="6492875"/>
            <a:ext cx="4114800" cy="365125"/>
          </a:xfrm>
        </p:spPr>
        <p:txBody>
          <a:bodyPr/>
          <a:lstStyle/>
          <a:p>
            <a:r>
              <a:rPr lang="en-US" b="1" dirty="0" smtClean="0">
                <a:latin typeface="Helvetica" panose="020B0604020202020204" pitchFamily="34" charset="0"/>
                <a:cs typeface="Helvetica" panose="020B0604020202020204" pitchFamily="34" charset="0"/>
              </a:rPr>
              <a:t>Indian Institute of Information Technology Guwahati</a:t>
            </a:r>
            <a:endParaRPr lang="en-IN" b="1" dirty="0">
              <a:latin typeface="Helvetica" panose="020B0604020202020204" pitchFamily="34" charset="0"/>
              <a:cs typeface="Helvetica" panose="020B0604020202020204" pitchFamily="34" charset="0"/>
            </a:endParaRPr>
          </a:p>
        </p:txBody>
      </p:sp>
      <p:sp>
        <p:nvSpPr>
          <p:cNvPr id="11" name="TextBox 10"/>
          <p:cNvSpPr txBox="1">
            <a:spLocks noChangeAspect="1"/>
          </p:cNvSpPr>
          <p:nvPr/>
        </p:nvSpPr>
        <p:spPr>
          <a:xfrm>
            <a:off x="84842" y="735291"/>
            <a:ext cx="3836708" cy="5757584"/>
          </a:xfrm>
          <a:prstGeom prst="rect">
            <a:avLst/>
          </a:prstGeom>
          <a:noFill/>
          <a:ln>
            <a:solidFill>
              <a:srgbClr val="003466"/>
            </a:solidFill>
          </a:ln>
          <a:effectLst/>
        </p:spPr>
        <p:style>
          <a:lnRef idx="2">
            <a:schemeClr val="accent3"/>
          </a:lnRef>
          <a:fillRef idx="1">
            <a:schemeClr val="lt1"/>
          </a:fillRef>
          <a:effectRef idx="0">
            <a:schemeClr val="accent3"/>
          </a:effectRef>
          <a:fontRef idx="minor">
            <a:schemeClr val="dk1"/>
          </a:fontRef>
        </p:style>
        <p:txBody>
          <a:bodyPr wrap="square" rtlCol="0">
            <a:noAutofit/>
          </a:bodyPr>
          <a:lstStyle/>
          <a:p>
            <a:r>
              <a:rPr lang="en-IN" sz="1600" b="1" dirty="0" smtClean="0">
                <a:solidFill>
                  <a:srgbClr val="003466"/>
                </a:solidFill>
                <a:latin typeface="Helvetica" panose="020B0604020202020204" pitchFamily="34" charset="0"/>
                <a:cs typeface="Helvetica" panose="020B0604020202020204" pitchFamily="34" charset="0"/>
              </a:rPr>
              <a:t>Summary/Abstract</a:t>
            </a:r>
          </a:p>
          <a:p>
            <a:r>
              <a:rPr lang="en-US" sz="1500" dirty="0" smtClean="0">
                <a:solidFill>
                  <a:schemeClr val="tx1"/>
                </a:solidFill>
                <a:latin typeface="Helvetica" panose="020B0604020202020204" pitchFamily="34" charset="0"/>
                <a:cs typeface="Helvetica" panose="020B0604020202020204" pitchFamily="34" charset="0"/>
              </a:rPr>
              <a:t>It gives viewers the most </a:t>
            </a:r>
            <a:r>
              <a:rPr lang="en-US" sz="1500" i="1" dirty="0" smtClean="0">
                <a:solidFill>
                  <a:schemeClr val="tx1"/>
                </a:solidFill>
                <a:latin typeface="Helvetica" panose="020B0604020202020204" pitchFamily="34" charset="0"/>
                <a:cs typeface="Helvetica" panose="020B0604020202020204" pitchFamily="34" charset="0"/>
              </a:rPr>
              <a:t>important information</a:t>
            </a:r>
            <a:r>
              <a:rPr lang="en-US" sz="1500" dirty="0" smtClean="0">
                <a:solidFill>
                  <a:schemeClr val="tx1"/>
                </a:solidFill>
                <a:latin typeface="Helvetica" panose="020B0604020202020204" pitchFamily="34" charset="0"/>
                <a:cs typeface="Helvetica" panose="020B0604020202020204" pitchFamily="34" charset="0"/>
              </a:rPr>
              <a:t> about your project at a glance. Think of it as a mini-version of your entire poster, highlighting the problem you addressed, what you did, and your key findings in a clear and concise way. To write it effectively, focus on briefly stating your project's purpose, your main approach, and your most significant results so someone can quickly grasp the essence of your work.</a:t>
            </a:r>
          </a:p>
          <a:p>
            <a:endParaRPr lang="en-US" sz="1500" dirty="0" smtClean="0">
              <a:solidFill>
                <a:schemeClr val="tx1"/>
              </a:solidFill>
              <a:latin typeface="Helvetica" panose="020B0604020202020204" pitchFamily="34" charset="0"/>
              <a:cs typeface="Helvetica" panose="020B0604020202020204" pitchFamily="34" charset="0"/>
            </a:endParaRPr>
          </a:p>
          <a:p>
            <a:r>
              <a:rPr lang="en-IN" sz="1600" b="1" dirty="0" smtClean="0">
                <a:solidFill>
                  <a:srgbClr val="003466"/>
                </a:solidFill>
                <a:latin typeface="Helvetica" panose="020B0604020202020204" pitchFamily="34" charset="0"/>
                <a:cs typeface="Helvetica" panose="020B0604020202020204" pitchFamily="34" charset="0"/>
              </a:rPr>
              <a:t>Objective/ Research Question</a:t>
            </a:r>
          </a:p>
          <a:p>
            <a:r>
              <a:rPr lang="en-US" sz="1500" dirty="0" smtClean="0">
                <a:latin typeface="Helvetica" panose="020B0604020202020204" pitchFamily="34" charset="0"/>
                <a:cs typeface="Helvetica" panose="020B0604020202020204" pitchFamily="34" charset="0"/>
              </a:rPr>
              <a:t>It clearly states what you aimed to achieve with your project or research. Think of it as the guiding star for your work: what specific goal were you trying to reach, or what key question were you trying to answer? Directly state your objective using action verbs like </a:t>
            </a:r>
            <a:r>
              <a:rPr lang="en-US" sz="1500" i="1" dirty="0" smtClean="0">
                <a:latin typeface="Helvetica" panose="020B0604020202020204" pitchFamily="34" charset="0"/>
                <a:cs typeface="Helvetica" panose="020B0604020202020204" pitchFamily="34" charset="0"/>
              </a:rPr>
              <a:t>“to develop,”</a:t>
            </a:r>
            <a:r>
              <a:rPr lang="en-US" sz="1500" dirty="0" smtClean="0">
                <a:latin typeface="Helvetica" panose="020B0604020202020204" pitchFamily="34" charset="0"/>
                <a:cs typeface="Helvetica" panose="020B0604020202020204" pitchFamily="34" charset="0"/>
              </a:rPr>
              <a:t> </a:t>
            </a:r>
            <a:r>
              <a:rPr lang="en-US" sz="1500" i="1" dirty="0" smtClean="0">
                <a:latin typeface="Helvetica" panose="020B0604020202020204" pitchFamily="34" charset="0"/>
                <a:cs typeface="Helvetica" panose="020B0604020202020204" pitchFamily="34" charset="0"/>
              </a:rPr>
              <a:t>“to investigate,”</a:t>
            </a:r>
            <a:r>
              <a:rPr lang="en-US" sz="1500" dirty="0" smtClean="0">
                <a:latin typeface="Helvetica" panose="020B0604020202020204" pitchFamily="34" charset="0"/>
                <a:cs typeface="Helvetica" panose="020B0604020202020204" pitchFamily="34" charset="0"/>
              </a:rPr>
              <a:t> or </a:t>
            </a:r>
            <a:r>
              <a:rPr lang="en-US" sz="1500" i="1" dirty="0" smtClean="0">
                <a:latin typeface="Helvetica" panose="020B0604020202020204" pitchFamily="34" charset="0"/>
                <a:cs typeface="Helvetica" panose="020B0604020202020204" pitchFamily="34" charset="0"/>
              </a:rPr>
              <a:t>“to compare”</a:t>
            </a:r>
            <a:r>
              <a:rPr lang="en-US" sz="1500" dirty="0" smtClean="0">
                <a:latin typeface="Helvetica" panose="020B0604020202020204" pitchFamily="34" charset="0"/>
                <a:cs typeface="Helvetica" panose="020B0604020202020204" pitchFamily="34" charset="0"/>
              </a:rPr>
              <a:t> or by clearly phrasing your central research question that your poster will explore.</a:t>
            </a:r>
            <a:endParaRPr lang="en-IN" sz="1500" dirty="0" smtClean="0">
              <a:latin typeface="Helvetica" panose="020B0604020202020204" pitchFamily="34" charset="0"/>
              <a:cs typeface="Helvetica" panose="020B0604020202020204" pitchFamily="34" charset="0"/>
            </a:endParaRPr>
          </a:p>
          <a:p>
            <a:endParaRPr lang="en-US" sz="1400" dirty="0" smtClean="0">
              <a:solidFill>
                <a:schemeClr val="tx1"/>
              </a:solidFill>
              <a:latin typeface="Helvetica" panose="020B0604020202020204" pitchFamily="34" charset="0"/>
              <a:cs typeface="Helvetica" panose="020B0604020202020204" pitchFamily="34" charset="0"/>
            </a:endParaRPr>
          </a:p>
          <a:p>
            <a:endParaRPr lang="en-IN" sz="1400" dirty="0" smtClean="0">
              <a:solidFill>
                <a:schemeClr val="tx1"/>
              </a:solidFill>
              <a:latin typeface="Helvetica" panose="020B0604020202020204" pitchFamily="34" charset="0"/>
              <a:cs typeface="Helvetica" panose="020B0604020202020204" pitchFamily="34" charset="0"/>
            </a:endParaRPr>
          </a:p>
          <a:p>
            <a:endParaRPr lang="en-IN" sz="1600" dirty="0">
              <a:latin typeface="Helvetica" panose="020B0604020202020204" pitchFamily="34" charset="0"/>
              <a:cs typeface="Helvetica" panose="020B0604020202020204" pitchFamily="34" charset="0"/>
            </a:endParaRPr>
          </a:p>
        </p:txBody>
      </p:sp>
      <mc:AlternateContent xmlns:mc="http://schemas.openxmlformats.org/markup-compatibility/2006">
        <mc:Choice xmlns:a14="http://schemas.microsoft.com/office/drawing/2010/main" Requires="a14">
          <p:sp>
            <p:nvSpPr>
              <p:cNvPr id="12" name="TextBox 11"/>
              <p:cNvSpPr txBox="1">
                <a:spLocks noChangeAspect="1"/>
              </p:cNvSpPr>
              <p:nvPr/>
            </p:nvSpPr>
            <p:spPr>
              <a:xfrm>
                <a:off x="4177646" y="735291"/>
                <a:ext cx="3836708" cy="5757584"/>
              </a:xfrm>
              <a:prstGeom prst="rect">
                <a:avLst/>
              </a:prstGeom>
              <a:noFill/>
              <a:ln>
                <a:solidFill>
                  <a:srgbClr val="003466"/>
                </a:solidFill>
              </a:ln>
              <a:effectLst/>
            </p:spPr>
            <p:style>
              <a:lnRef idx="2">
                <a:schemeClr val="accent3"/>
              </a:lnRef>
              <a:fillRef idx="1">
                <a:schemeClr val="lt1"/>
              </a:fillRef>
              <a:effectRef idx="0">
                <a:schemeClr val="accent3"/>
              </a:effectRef>
              <a:fontRef idx="minor">
                <a:schemeClr val="dk1"/>
              </a:fontRef>
            </p:style>
            <p:txBody>
              <a:bodyPr wrap="square" rtlCol="0">
                <a:noAutofit/>
              </a:bodyPr>
              <a:lstStyle/>
              <a:p>
                <a:r>
                  <a:rPr lang="en-IN" sz="1600" b="1" dirty="0" smtClean="0">
                    <a:solidFill>
                      <a:srgbClr val="003466"/>
                    </a:solidFill>
                    <a:latin typeface="Helvetica" panose="020B0604020202020204" pitchFamily="34" charset="0"/>
                    <a:cs typeface="Helvetica" panose="020B0604020202020204" pitchFamily="34" charset="0"/>
                  </a:rPr>
                  <a:t>Method/Approach</a:t>
                </a:r>
              </a:p>
              <a:p>
                <a:r>
                  <a:rPr lang="en-US" sz="1500" dirty="0" smtClean="0">
                    <a:latin typeface="Helvetica" panose="020B0604020202020204" pitchFamily="34" charset="0"/>
                    <a:cs typeface="Helvetica" panose="020B0604020202020204" pitchFamily="34" charset="0"/>
                  </a:rPr>
                  <a:t>Explain how you conducted your project or research. Think of it as a simplified roadmap of your work, highlighting the key steps and techniques you used to achieve your objective or answer your research question. Write this section by focusing on the most important aspects of your process – what did you do? – and consider using visuals like flowcharts or diagrams to make your methods easy to understand at a glance. Equations can be written as follows:</a:t>
                </a:r>
              </a:p>
              <a:p>
                <a14:m>
                  <m:oMathPara xmlns:m="http://schemas.openxmlformats.org/officeDocument/2006/math">
                    <m:oMathParaPr>
                      <m:jc m:val="centerGroup"/>
                    </m:oMathParaPr>
                    <m:oMath xmlns:m="http://schemas.openxmlformats.org/officeDocument/2006/math">
                      <m:r>
                        <a:rPr lang="en-IN" sz="1500" b="0" i="1" smtClean="0">
                          <a:latin typeface="Cambria Math" panose="02040503050406030204" pitchFamily="18" charset="0"/>
                          <a:cs typeface="Helvetica" panose="020B0604020202020204" pitchFamily="34" charset="0"/>
                        </a:rPr>
                        <m:t>𝐸</m:t>
                      </m:r>
                      <m:r>
                        <a:rPr lang="en-IN" sz="1500" b="0" i="1" smtClean="0">
                          <a:latin typeface="Cambria Math" panose="02040503050406030204" pitchFamily="18" charset="0"/>
                          <a:cs typeface="Helvetica" panose="020B0604020202020204" pitchFamily="34" charset="0"/>
                        </a:rPr>
                        <m:t>=</m:t>
                      </m:r>
                      <m:r>
                        <a:rPr lang="en-IN" sz="1500" b="0" i="1" smtClean="0">
                          <a:latin typeface="Cambria Math" panose="02040503050406030204" pitchFamily="18" charset="0"/>
                          <a:cs typeface="Helvetica" panose="020B0604020202020204" pitchFamily="34" charset="0"/>
                        </a:rPr>
                        <m:t>𝑚</m:t>
                      </m:r>
                      <m:r>
                        <a:rPr lang="en-IN" sz="1500" b="0" i="1" smtClean="0">
                          <a:latin typeface="Cambria Math" panose="02040503050406030204" pitchFamily="18" charset="0"/>
                          <a:cs typeface="Helvetica" panose="020B0604020202020204" pitchFamily="34" charset="0"/>
                        </a:rPr>
                        <m:t> </m:t>
                      </m:r>
                      <m:sSup>
                        <m:sSupPr>
                          <m:ctrlPr>
                            <a:rPr lang="en-IN" sz="1500" b="0" i="1" smtClean="0">
                              <a:latin typeface="Cambria Math" panose="02040503050406030204" pitchFamily="18" charset="0"/>
                              <a:cs typeface="Helvetica" panose="020B0604020202020204" pitchFamily="34" charset="0"/>
                            </a:rPr>
                          </m:ctrlPr>
                        </m:sSupPr>
                        <m:e>
                          <m:r>
                            <a:rPr lang="en-IN" sz="1500" b="0" i="1" smtClean="0">
                              <a:latin typeface="Cambria Math" panose="02040503050406030204" pitchFamily="18" charset="0"/>
                              <a:cs typeface="Helvetica" panose="020B0604020202020204" pitchFamily="34" charset="0"/>
                            </a:rPr>
                            <m:t>𝑐</m:t>
                          </m:r>
                        </m:e>
                        <m:sup>
                          <m:r>
                            <a:rPr lang="en-IN" sz="1500" b="0" i="1" smtClean="0">
                              <a:latin typeface="Cambria Math" panose="02040503050406030204" pitchFamily="18" charset="0"/>
                              <a:cs typeface="Helvetica" panose="020B0604020202020204" pitchFamily="34" charset="0"/>
                            </a:rPr>
                            <m:t>2</m:t>
                          </m:r>
                        </m:sup>
                      </m:sSup>
                      <m:r>
                        <a:rPr lang="en-IN" sz="1500" b="0" i="0" smtClean="0">
                          <a:latin typeface="Cambria Math" panose="02040503050406030204" pitchFamily="18" charset="0"/>
                          <a:cs typeface="Helvetica" panose="020B0604020202020204" pitchFamily="34" charset="0"/>
                        </a:rPr>
                        <m:t>.</m:t>
                      </m:r>
                    </m:oMath>
                  </m:oMathPara>
                </a14:m>
                <a:endParaRPr lang="en-IN" sz="1500" b="0" dirty="0" smtClean="0">
                  <a:latin typeface="Helvetica" panose="020B0604020202020204" pitchFamily="34" charset="0"/>
                  <a:cs typeface="Helvetica" panose="020B0604020202020204" pitchFamily="34" charset="0"/>
                </a:endParaRPr>
              </a:p>
              <a:p>
                <a:r>
                  <a:rPr lang="en-IN" sz="1500" dirty="0" smtClean="0">
                    <a:latin typeface="Helvetica" panose="020B0604020202020204" pitchFamily="34" charset="0"/>
                    <a:cs typeface="Helvetica" panose="020B0604020202020204" pitchFamily="34" charset="0"/>
                  </a:rPr>
                  <a:t>You can also use bullet points anywhere in the slide, such as:</a:t>
                </a:r>
              </a:p>
              <a:p>
                <a:pPr marL="285750" indent="-285750">
                  <a:buFont typeface="Arial" panose="020B0604020202020204" pitchFamily="34" charset="0"/>
                  <a:buChar char="•"/>
                </a:pPr>
                <a:r>
                  <a:rPr lang="en-IN" sz="1500" dirty="0" smtClean="0">
                    <a:latin typeface="Helvetica" panose="020B0604020202020204" pitchFamily="34" charset="0"/>
                    <a:cs typeface="Helvetica" panose="020B0604020202020204" pitchFamily="34" charset="0"/>
                  </a:rPr>
                  <a:t>The font size for normal text, header, your name, and project title are 15, 15, 16, and 18, respectively. The font face is Helvetica. Title, your name, and section headings are boldfaced. </a:t>
                </a:r>
              </a:p>
              <a:p>
                <a:pPr marL="285750" indent="-285750">
                  <a:buFont typeface="Arial" panose="020B0604020202020204" pitchFamily="34" charset="0"/>
                  <a:buChar char="•"/>
                </a:pPr>
                <a:r>
                  <a:rPr lang="en-IN" sz="1500" dirty="0" smtClean="0">
                    <a:latin typeface="Helvetica" panose="020B0604020202020204" pitchFamily="34" charset="0"/>
                    <a:cs typeface="Helvetica" panose="020B0604020202020204" pitchFamily="34" charset="0"/>
                  </a:rPr>
                  <a:t>You may change the sections; there is no fixed rule. For example, for a theoretical work, experimentation may not be required.</a:t>
                </a:r>
              </a:p>
            </p:txBody>
          </p:sp>
        </mc:Choice>
        <mc:Fallback>
          <p:sp>
            <p:nvSpPr>
              <p:cNvPr id="12" name="TextBox 11"/>
              <p:cNvSpPr txBox="1">
                <a:spLocks noRot="1" noChangeAspect="1" noMove="1" noResize="1" noEditPoints="1" noAdjustHandles="1" noChangeArrowheads="1" noChangeShapeType="1" noTextEdit="1"/>
              </p:cNvSpPr>
              <p:nvPr/>
            </p:nvSpPr>
            <p:spPr>
              <a:xfrm>
                <a:off x="4177646" y="735291"/>
                <a:ext cx="3836708" cy="5757584"/>
              </a:xfrm>
              <a:prstGeom prst="rect">
                <a:avLst/>
              </a:prstGeom>
              <a:blipFill>
                <a:blip r:embed="rId3"/>
                <a:stretch>
                  <a:fillRect l="-633" t="-211" r="-1424" b="-2220"/>
                </a:stretch>
              </a:blipFill>
              <a:ln>
                <a:solidFill>
                  <a:srgbClr val="003466"/>
                </a:solidFill>
              </a:ln>
              <a:effectLst/>
            </p:spPr>
            <p:txBody>
              <a:bodyPr/>
              <a:lstStyle/>
              <a:p>
                <a:r>
                  <a:rPr lang="en-IN">
                    <a:noFill/>
                  </a:rPr>
                  <a:t> </a:t>
                </a:r>
              </a:p>
            </p:txBody>
          </p:sp>
        </mc:Fallback>
      </mc:AlternateContent>
      <p:sp>
        <p:nvSpPr>
          <p:cNvPr id="13" name="TextBox 12"/>
          <p:cNvSpPr txBox="1">
            <a:spLocks noChangeAspect="1"/>
          </p:cNvSpPr>
          <p:nvPr/>
        </p:nvSpPr>
        <p:spPr>
          <a:xfrm>
            <a:off x="8270450" y="735291"/>
            <a:ext cx="3836708" cy="5757584"/>
          </a:xfrm>
          <a:prstGeom prst="rect">
            <a:avLst/>
          </a:prstGeom>
          <a:noFill/>
          <a:ln>
            <a:solidFill>
              <a:srgbClr val="003466"/>
            </a:solidFill>
          </a:ln>
          <a:effectLst/>
        </p:spPr>
        <p:style>
          <a:lnRef idx="2">
            <a:schemeClr val="accent3"/>
          </a:lnRef>
          <a:fillRef idx="1">
            <a:schemeClr val="lt1"/>
          </a:fillRef>
          <a:effectRef idx="0">
            <a:schemeClr val="accent3"/>
          </a:effectRef>
          <a:fontRef idx="minor">
            <a:schemeClr val="dk1"/>
          </a:fontRef>
        </p:style>
        <p:txBody>
          <a:bodyPr wrap="square" rtlCol="0">
            <a:noAutofit/>
          </a:bodyPr>
          <a:lstStyle/>
          <a:p>
            <a:r>
              <a:rPr lang="en-US" sz="1600" b="1" dirty="0" smtClean="0">
                <a:solidFill>
                  <a:srgbClr val="003466"/>
                </a:solidFill>
                <a:latin typeface="Helvetica" panose="020B0604020202020204" pitchFamily="34" charset="0"/>
                <a:cs typeface="Helvetica" panose="020B0604020202020204" pitchFamily="34" charset="0"/>
              </a:rPr>
              <a:t>Results/Findings</a:t>
            </a:r>
          </a:p>
          <a:p>
            <a:r>
              <a:rPr lang="en-US" sz="1500" dirty="0" smtClean="0">
                <a:latin typeface="Helvetica" panose="020B0604020202020204" pitchFamily="34" charset="0"/>
                <a:cs typeface="Helvetica" panose="020B0604020202020204" pitchFamily="34" charset="0"/>
              </a:rPr>
              <a:t>This section showcases the outcomes of your work – what did you discover or achieve? Think of this as the core evidence supporting your project, where you present your key data and observations. Write this section by prioritizing visual elements like graphs, charts, and images to clearly display your most important results, and use concise text to highlight the meaning and significance of these findings.</a:t>
            </a:r>
          </a:p>
          <a:p>
            <a:endParaRPr lang="en-US" sz="1500" dirty="0">
              <a:latin typeface="Helvetica" panose="020B0604020202020204" pitchFamily="34" charset="0"/>
              <a:cs typeface="Helvetica" panose="020B0604020202020204" pitchFamily="34" charset="0"/>
            </a:endParaRPr>
          </a:p>
          <a:p>
            <a:endParaRPr lang="en-US" sz="1500" dirty="0" smtClean="0">
              <a:latin typeface="Helvetica" panose="020B0604020202020204" pitchFamily="34" charset="0"/>
              <a:cs typeface="Helvetica" panose="020B0604020202020204" pitchFamily="34" charset="0"/>
            </a:endParaRPr>
          </a:p>
          <a:p>
            <a:endParaRPr lang="en-US" sz="1500" dirty="0">
              <a:latin typeface="Helvetica" panose="020B0604020202020204" pitchFamily="34" charset="0"/>
              <a:cs typeface="Helvetica" panose="020B0604020202020204" pitchFamily="34" charset="0"/>
            </a:endParaRPr>
          </a:p>
          <a:p>
            <a:endParaRPr lang="en-US" sz="1500" dirty="0" smtClean="0">
              <a:latin typeface="Helvetica" panose="020B0604020202020204" pitchFamily="34" charset="0"/>
              <a:cs typeface="Helvetica" panose="020B0604020202020204" pitchFamily="34" charset="0"/>
            </a:endParaRPr>
          </a:p>
          <a:p>
            <a:endParaRPr lang="en-US" sz="1500" dirty="0">
              <a:latin typeface="Helvetica" panose="020B0604020202020204" pitchFamily="34" charset="0"/>
              <a:cs typeface="Helvetica" panose="020B0604020202020204" pitchFamily="34" charset="0"/>
            </a:endParaRPr>
          </a:p>
          <a:p>
            <a:endParaRPr lang="en-US" sz="1500" dirty="0" smtClean="0">
              <a:latin typeface="Helvetica" panose="020B0604020202020204" pitchFamily="34" charset="0"/>
              <a:cs typeface="Helvetica" panose="020B0604020202020204" pitchFamily="34" charset="0"/>
            </a:endParaRPr>
          </a:p>
          <a:p>
            <a:endParaRPr lang="en-US" sz="1500" dirty="0">
              <a:latin typeface="Helvetica" panose="020B0604020202020204" pitchFamily="34" charset="0"/>
              <a:cs typeface="Helvetica" panose="020B0604020202020204" pitchFamily="34" charset="0"/>
            </a:endParaRPr>
          </a:p>
          <a:p>
            <a:endParaRPr lang="en-US" sz="1500" dirty="0" smtClean="0">
              <a:latin typeface="Helvetica" panose="020B0604020202020204" pitchFamily="34" charset="0"/>
              <a:cs typeface="Helvetica" panose="020B0604020202020204" pitchFamily="34" charset="0"/>
            </a:endParaRPr>
          </a:p>
          <a:p>
            <a:endParaRPr lang="en-US" sz="1500" dirty="0">
              <a:latin typeface="Helvetica" panose="020B0604020202020204" pitchFamily="34" charset="0"/>
              <a:cs typeface="Helvetica" panose="020B0604020202020204" pitchFamily="34" charset="0"/>
            </a:endParaRPr>
          </a:p>
          <a:p>
            <a:endParaRPr lang="en-IN" sz="1600" b="1" dirty="0" smtClean="0">
              <a:solidFill>
                <a:srgbClr val="003466"/>
              </a:solidFill>
            </a:endParaRPr>
          </a:p>
          <a:p>
            <a:r>
              <a:rPr lang="en-IN" sz="1600" b="1" dirty="0" smtClean="0">
                <a:solidFill>
                  <a:srgbClr val="003466"/>
                </a:solidFill>
              </a:rPr>
              <a:t>Conclusion/Significance/Implications</a:t>
            </a:r>
          </a:p>
          <a:p>
            <a:r>
              <a:rPr lang="en-IN" sz="1500" dirty="0" smtClean="0">
                <a:latin typeface="Helvetica" panose="020B0604020202020204" pitchFamily="34" charset="0"/>
                <a:cs typeface="Helvetica" panose="020B0604020202020204" pitchFamily="34" charset="0"/>
              </a:rPr>
              <a:t>Write the overall take away here.</a:t>
            </a:r>
            <a:endParaRPr lang="en-US" sz="1500" dirty="0" smtClean="0">
              <a:latin typeface="Helvetica" panose="020B0604020202020204" pitchFamily="34" charset="0"/>
              <a:cs typeface="Helvetica" panose="020B0604020202020204" pitchFamily="34" charset="0"/>
            </a:endParaRPr>
          </a:p>
          <a:p>
            <a:endParaRPr lang="en-US" sz="1500" dirty="0" smtClean="0">
              <a:latin typeface="Helvetica" panose="020B0604020202020204" pitchFamily="34" charset="0"/>
              <a:cs typeface="Helvetica" panose="020B0604020202020204" pitchFamily="34" charset="0"/>
            </a:endParaRPr>
          </a:p>
          <a:p>
            <a:endParaRPr lang="en-IN" sz="1500" dirty="0">
              <a:latin typeface="Helvetica" panose="020B0604020202020204" pitchFamily="34" charset="0"/>
              <a:cs typeface="Helvetica" panose="020B0604020202020204" pitchFamily="34"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608931888"/>
              </p:ext>
            </p:extLst>
          </p:nvPr>
        </p:nvGraphicFramePr>
        <p:xfrm>
          <a:off x="8349675" y="3614083"/>
          <a:ext cx="3685308" cy="822960"/>
        </p:xfrm>
        <a:graphic>
          <a:graphicData uri="http://schemas.openxmlformats.org/drawingml/2006/table">
            <a:tbl>
              <a:tblPr firstRow="1" bandRow="1">
                <a:tableStyleId>{69012ECD-51FC-41F1-AA8D-1B2483CD663E}</a:tableStyleId>
              </a:tblPr>
              <a:tblGrid>
                <a:gridCol w="1228436">
                  <a:extLst>
                    <a:ext uri="{9D8B030D-6E8A-4147-A177-3AD203B41FA5}">
                      <a16:colId xmlns:a16="http://schemas.microsoft.com/office/drawing/2014/main" val="686065738"/>
                    </a:ext>
                  </a:extLst>
                </a:gridCol>
                <a:gridCol w="1228436">
                  <a:extLst>
                    <a:ext uri="{9D8B030D-6E8A-4147-A177-3AD203B41FA5}">
                      <a16:colId xmlns:a16="http://schemas.microsoft.com/office/drawing/2014/main" val="2839904397"/>
                    </a:ext>
                  </a:extLst>
                </a:gridCol>
                <a:gridCol w="1228436">
                  <a:extLst>
                    <a:ext uri="{9D8B030D-6E8A-4147-A177-3AD203B41FA5}">
                      <a16:colId xmlns:a16="http://schemas.microsoft.com/office/drawing/2014/main" val="625233789"/>
                    </a:ext>
                  </a:extLst>
                </a:gridCol>
              </a:tblGrid>
              <a:tr h="228914">
                <a:tc>
                  <a:txBody>
                    <a:bodyPr/>
                    <a:lstStyle/>
                    <a:p>
                      <a:pPr algn="ctr"/>
                      <a:r>
                        <a:rPr lang="en-IN" sz="1200" b="1" dirty="0" smtClean="0">
                          <a:ln>
                            <a:solidFill>
                              <a:srgbClr val="003466"/>
                            </a:solidFill>
                          </a:ln>
                          <a:solidFill>
                            <a:schemeClr val="bg1"/>
                          </a:solidFill>
                          <a:latin typeface="Helvetica" panose="020B0604020202020204" pitchFamily="34" charset="0"/>
                          <a:cs typeface="Helvetica" panose="020B0604020202020204" pitchFamily="34" charset="0"/>
                        </a:rPr>
                        <a:t>Header 1</a:t>
                      </a:r>
                      <a:endParaRPr lang="en-IN" sz="1200" b="1" dirty="0">
                        <a:ln>
                          <a:solidFill>
                            <a:srgbClr val="003466"/>
                          </a:solidFill>
                        </a:ln>
                        <a:solidFill>
                          <a:schemeClr val="bg1"/>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466"/>
                    </a:solidFill>
                  </a:tcPr>
                </a:tc>
                <a:tc>
                  <a:txBody>
                    <a:bodyPr/>
                    <a:lstStyle/>
                    <a:p>
                      <a:pPr algn="ctr"/>
                      <a:r>
                        <a:rPr lang="en-IN" sz="1200" b="1" dirty="0" smtClean="0">
                          <a:ln>
                            <a:solidFill>
                              <a:srgbClr val="003466"/>
                            </a:solidFill>
                          </a:ln>
                          <a:solidFill>
                            <a:schemeClr val="bg1"/>
                          </a:solidFill>
                          <a:latin typeface="Helvetica" panose="020B0604020202020204" pitchFamily="34" charset="0"/>
                          <a:cs typeface="Helvetica" panose="020B0604020202020204" pitchFamily="34" charset="0"/>
                        </a:rPr>
                        <a:t>Header</a:t>
                      </a:r>
                      <a:r>
                        <a:rPr lang="en-IN" sz="1200" b="1" baseline="0" dirty="0" smtClean="0">
                          <a:ln>
                            <a:solidFill>
                              <a:srgbClr val="003466"/>
                            </a:solidFill>
                          </a:ln>
                          <a:solidFill>
                            <a:schemeClr val="bg1"/>
                          </a:solidFill>
                          <a:latin typeface="Helvetica" panose="020B0604020202020204" pitchFamily="34" charset="0"/>
                          <a:cs typeface="Helvetica" panose="020B0604020202020204" pitchFamily="34" charset="0"/>
                        </a:rPr>
                        <a:t> 2</a:t>
                      </a:r>
                      <a:endParaRPr lang="en-IN" sz="1200" b="1" dirty="0">
                        <a:ln>
                          <a:solidFill>
                            <a:srgbClr val="003466"/>
                          </a:solidFill>
                        </a:ln>
                        <a:solidFill>
                          <a:schemeClr val="bg1"/>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466"/>
                    </a:solidFill>
                  </a:tcPr>
                </a:tc>
                <a:tc>
                  <a:txBody>
                    <a:bodyPr/>
                    <a:lstStyle/>
                    <a:p>
                      <a:pPr algn="ctr"/>
                      <a:r>
                        <a:rPr lang="en-IN" sz="1200" b="1" dirty="0" smtClean="0">
                          <a:ln>
                            <a:solidFill>
                              <a:srgbClr val="003466"/>
                            </a:solidFill>
                          </a:ln>
                          <a:solidFill>
                            <a:schemeClr val="bg1"/>
                          </a:solidFill>
                          <a:latin typeface="Helvetica" panose="020B0604020202020204" pitchFamily="34" charset="0"/>
                          <a:cs typeface="Helvetica" panose="020B0604020202020204" pitchFamily="34" charset="0"/>
                        </a:rPr>
                        <a:t>Header 3</a:t>
                      </a:r>
                      <a:endParaRPr lang="en-IN" sz="1200" b="1" dirty="0">
                        <a:solidFill>
                          <a:schemeClr val="bg1"/>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466"/>
                    </a:solidFill>
                  </a:tcPr>
                </a:tc>
                <a:extLst>
                  <a:ext uri="{0D108BD9-81ED-4DB2-BD59-A6C34878D82A}">
                    <a16:rowId xmlns:a16="http://schemas.microsoft.com/office/drawing/2014/main" val="1321088065"/>
                  </a:ext>
                </a:extLst>
              </a:tr>
              <a:tr h="228914">
                <a:tc>
                  <a:txBody>
                    <a:bodyPr/>
                    <a:lstStyle/>
                    <a:p>
                      <a:pPr algn="r"/>
                      <a:r>
                        <a:rPr lang="en-IN" sz="1200" dirty="0" smtClean="0">
                          <a:solidFill>
                            <a:schemeClr val="tx1"/>
                          </a:solidFill>
                          <a:latin typeface="Helvetica" panose="020B0604020202020204" pitchFamily="34" charset="0"/>
                          <a:cs typeface="Helvetica" panose="020B0604020202020204" pitchFamily="34" charset="0"/>
                        </a:rPr>
                        <a:t>Font size is 12 </a:t>
                      </a:r>
                      <a:endParaRPr lang="en-IN" sz="1200" dirty="0">
                        <a:solidFill>
                          <a:schemeClr val="tx1"/>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IN" sz="1200" dirty="0" smtClean="0">
                          <a:solidFill>
                            <a:schemeClr val="tx1"/>
                          </a:solidFill>
                          <a:latin typeface="Helvetica" panose="020B0604020202020204" pitchFamily="34" charset="0"/>
                          <a:cs typeface="Helvetica" panose="020B0604020202020204" pitchFamily="34" charset="0"/>
                        </a:rPr>
                        <a:t>for</a:t>
                      </a:r>
                      <a:r>
                        <a:rPr lang="en-IN" sz="1200" baseline="0" dirty="0" smtClean="0">
                          <a:solidFill>
                            <a:schemeClr val="tx1"/>
                          </a:solidFill>
                          <a:latin typeface="Helvetica" panose="020B0604020202020204" pitchFamily="34" charset="0"/>
                          <a:cs typeface="Helvetica" panose="020B0604020202020204" pitchFamily="34" charset="0"/>
                        </a:rPr>
                        <a:t> table </a:t>
                      </a:r>
                      <a:endParaRPr lang="en-IN" sz="1200" dirty="0">
                        <a:solidFill>
                          <a:schemeClr val="tx1"/>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IN" sz="1200" dirty="0" smtClean="0">
                          <a:solidFill>
                            <a:schemeClr val="tx1"/>
                          </a:solidFill>
                          <a:latin typeface="Helvetica" panose="020B0604020202020204" pitchFamily="34" charset="0"/>
                          <a:cs typeface="Helvetica" panose="020B0604020202020204" pitchFamily="34" charset="0"/>
                        </a:rPr>
                        <a:t>entries.</a:t>
                      </a:r>
                      <a:endParaRPr lang="en-IN" sz="1200" dirty="0">
                        <a:solidFill>
                          <a:schemeClr val="tx1"/>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749313"/>
                  </a:ext>
                </a:extLst>
              </a:tr>
              <a:tr h="250707">
                <a:tc>
                  <a:txBody>
                    <a:bodyPr/>
                    <a:lstStyle/>
                    <a:p>
                      <a:pPr algn="r"/>
                      <a:r>
                        <a:rPr lang="en-US" sz="1200" dirty="0" smtClean="0">
                          <a:solidFill>
                            <a:schemeClr val="tx1"/>
                          </a:solidFill>
                          <a:latin typeface="Helvetica" panose="020B0604020202020204" pitchFamily="34" charset="0"/>
                          <a:cs typeface="Helvetica" panose="020B0604020202020204" pitchFamily="34" charset="0"/>
                        </a:rPr>
                        <a:t>Slide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latin typeface="Helvetica" panose="020B0604020202020204" pitchFamily="34" charset="0"/>
                          <a:cs typeface="Helvetica" panose="020B0604020202020204" pitchFamily="34" charset="0"/>
                        </a:rPr>
                        <a:t>Width: 33.867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dirty="0" smtClean="0">
                          <a:solidFill>
                            <a:schemeClr val="tx1"/>
                          </a:solidFill>
                          <a:latin typeface="Helvetica" panose="020B0604020202020204" pitchFamily="34" charset="0"/>
                          <a:cs typeface="Helvetica" panose="020B0604020202020204" pitchFamily="34" charset="0"/>
                        </a:rPr>
                        <a:t>Height:19.75</a:t>
                      </a:r>
                      <a:endParaRPr lang="en-IN" sz="1200" dirty="0">
                        <a:solidFill>
                          <a:schemeClr val="tx1"/>
                        </a:solidFill>
                        <a:latin typeface="Helvetica" panose="020B0604020202020204" pitchFamily="34" charset="0"/>
                        <a:cs typeface="Helvetica"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0188881"/>
                  </a:ext>
                </a:extLst>
              </a:tr>
            </a:tbl>
          </a:graphicData>
        </a:graphic>
      </p:graphicFrame>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14151" y="4540738"/>
            <a:ext cx="2349306" cy="1286612"/>
          </a:xfrm>
          <a:prstGeom prst="rect">
            <a:avLst/>
          </a:prstGeom>
        </p:spPr>
      </p:pic>
    </p:spTree>
    <p:extLst>
      <p:ext uri="{BB962C8B-B14F-4D97-AF65-F5344CB8AC3E}">
        <p14:creationId xmlns:p14="http://schemas.microsoft.com/office/powerpoint/2010/main" val="22912614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TotalTime>
  <Words>368</Words>
  <Application>Microsoft Office PowerPoint</Application>
  <PresentationFormat>Widescreen</PresentationFormat>
  <Paragraphs>38</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Cambria Math</vt:lpstr>
      <vt:lpstr>Helvetica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Kaustuv Nag</dc:creator>
  <cp:lastModifiedBy>Kaustuv Nag</cp:lastModifiedBy>
  <cp:revision>12</cp:revision>
  <dcterms:created xsi:type="dcterms:W3CDTF">2025-03-19T05:36:37Z</dcterms:created>
  <dcterms:modified xsi:type="dcterms:W3CDTF">2025-03-19T06:43:59Z</dcterms:modified>
</cp:coreProperties>
</file>